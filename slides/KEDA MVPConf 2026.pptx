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7" r:id="rId3"/>
    <p:sldId id="275" r:id="rId4"/>
    <p:sldId id="270" r:id="rId5"/>
    <p:sldId id="284" r:id="rId6"/>
    <p:sldId id="303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9" r:id="rId19"/>
    <p:sldId id="300" r:id="rId20"/>
    <p:sldId id="301" r:id="rId21"/>
    <p:sldId id="302" r:id="rId22"/>
    <p:sldId id="298" r:id="rId23"/>
    <p:sldId id="304" r:id="rId24"/>
    <p:sldId id="265" r:id="rId25"/>
    <p:sldId id="266" r:id="rId26"/>
  </p:sldIdLst>
  <p:sldSz cx="18288000" cy="10287000"/>
  <p:notesSz cx="10287000" cy="18288000"/>
  <p:embeddedFontLst>
    <p:embeddedFont>
      <p:font typeface="Maven Pro Black" panose="020B0604020202020204" charset="0"/>
      <p:bold r:id="rId28"/>
    </p:embeddedFont>
    <p:embeddedFont>
      <p:font typeface="Maven Pro ExtraBold" panose="020B0604020202020204" charset="0"/>
      <p:bold r:id="rId29"/>
    </p:embeddedFont>
    <p:embeddedFont>
      <p:font typeface="Maven Pro Medium" panose="020B0604020202020204" charset="0"/>
      <p:regular r:id="rId30"/>
    </p:embeddedFont>
    <p:embeddedFont>
      <p:font typeface="Maven Pro Regular" panose="020B0604020202020204" charset="0"/>
      <p:regular r:id="rId31"/>
      <p:bold r:id="rId32"/>
      <p:italic r:id="rId33"/>
    </p:embeddedFont>
    <p:embeddedFont>
      <p:font typeface="Maven Pro SemiBold" panose="020B0604020202020204" charset="0"/>
      <p:regular r:id="rId34"/>
      <p:bold r:id="rId3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CFD"/>
    <a:srgbClr val="A42FFC"/>
    <a:srgbClr val="3644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2F7851-59CD-6743-8960-07CEA76D87C6}" v="23" dt="2026-08-25T23:37:22.1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3"/>
    <p:restoredTop sz="94610"/>
  </p:normalViewPr>
  <p:slideViewPr>
    <p:cSldViewPr snapToGrid="0" snapToObjects="1">
      <p:cViewPr>
        <p:scale>
          <a:sx n="33" d="100"/>
          <a:sy n="33" d="100"/>
        </p:scale>
        <p:origin x="1934" y="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022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[00:00–01:00] ABERTURA</a:t>
            </a:r>
          </a:p>
          <a:p>
            <a:r>
              <a:t>- Boas-vindas, agradecer a presença e à organização da MVP Conf.</a:t>
            </a:r>
          </a:p>
          <a:p>
            <a:r>
              <a:t>- Frase de impacto: "Quantas aplicações de vocês chamam um modelo de IA direto, com a chave no appsettings?"</a:t>
            </a:r>
          </a:p>
          <a:p>
            <a:r>
              <a:t>- Promessa da palestra: sair daqui sabendo por que e como colocar um AI Gateway na frente dos seus modelos — e ver isso funcionando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9FDD-61DB-4E70-6DE7-05012623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963C8E-C6BC-993C-DC2A-E07E3D472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D28E3-1625-1088-A05F-A6C3CBE48E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[01:00–01:30] PATROCINADORES</a:t>
            </a:r>
          </a:p>
          <a:p>
            <a:r>
              <a:t>- Agradecer rapidamente aos patrocinadores. Não se demorar aqui.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B2257-F445-C699-B6C4-300979CBE1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3030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[01:30–02:30] APRESENTAÇÃO — CARLOS MACHEL</a:t>
            </a:r>
          </a:p>
          <a:p>
            <a:r>
              <a:t>- Quem sou, o que faço hoje e por que esse tema importa no meu dia a dia (30–40 s).</a:t>
            </a:r>
          </a:p>
          <a:p>
            <a:r>
              <a:t>- Mostrar o QR code do LinkedIn e dizer: 'o mesmo QR estará no final'.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9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[02:30–03:30] APRESENTAÇÃO — CARLOS NOGUEIRA</a:t>
            </a:r>
          </a:p>
          <a:p>
            <a:r>
              <a:t>- Quem sou, onde me encontrar (QR code), 30–40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0451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CFE9-E5FD-AFDE-22AB-5134669B4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075A9-1590-6DB0-19B6-E6D54C8028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A8BF0-6CBA-6CDA-4813-585D8938B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3E46D-9D38-4C1E-A93C-0F84782F9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83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302D-EB27-30E5-E73E-820EDFCA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8E5B3D-0754-C754-539B-9FF7EF133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14180-58BA-5896-7DFB-6776AB67E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F95E2-215D-FD28-C198-0C52A3C2C2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49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6DAF-97EC-BA09-C3DC-603879104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62B48-7B30-0EA3-BD59-3E1EFA0D3E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B40DDA-1F51-F774-0B97-2A76A215C5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BF217-86D0-7891-0C83-E0C888665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16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F82F-09C1-1456-F324-3EFF5F60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F810FC-18A9-9B9A-C095-094426804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A04B3-9B0A-1E34-10B9-1DF3A283C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6AF2C9-5787-BC79-D47D-005904B7E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54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D6DD2-9670-8389-7194-71866DFB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B42C4C-049C-69A0-F7FC-89CA592E8D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A0C9C2-2F49-8554-38A9-636E8DC30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C8F37-9EB9-1030-62DE-F4A5A27C8A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20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9583-2244-A45D-7A93-0E3CE0D9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247C6-DFB3-B4DD-256D-E9FCBE68C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8F5C3-8934-ABCD-68C8-89541BB1E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62341-46C0-6FC4-1E5E-D765611D3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674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7C14-0F16-A60E-655D-49C8C187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056D2-4853-7D90-8313-0109618219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7602E3-D0F1-38DA-2889-8F9C6A9D4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941E3-4BF9-B10C-8793-4DC41D460D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85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7122-9EB7-4432-D3B4-4F2BF0C1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C20D4-FE3D-172D-3B04-8D8CF32D0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6E795-0B43-5D2F-CEB0-1A40F34339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13BEB2-5F40-67A3-B662-DD8466B366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525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12964-C703-7B3B-D669-7B5C64707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ACE6C-3354-FD7C-6EF8-4E3299C21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14417-14A5-B92B-861C-3A73352E2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1C6A9-F934-5C8F-08F0-7B0D918062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768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1B5FC-B729-1136-6A65-24351EA1D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7380F-A97E-47C2-8781-DE343F476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2ABC3-A234-5CE2-C5CE-3118B685D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46147-9F9C-BE8D-DA01-11D9C834FE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12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C0CE3-CE03-6DD1-97EA-15ED61E75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C9696-4408-D5FD-A8F0-595E941CE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62EC29-EC71-5E2A-4608-2E66CE6A7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32954-EAC6-CA17-9A37-395831498B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714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7513C-E7D0-2EA3-1D2F-25A552BD7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4B8E-1B40-15DE-1BCD-B6C4FE459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52743-77D8-7498-3416-4E3F75521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A8734-95FC-2E40-62C6-D6DC738B9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514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1CAEE-4D95-8C92-4172-1B2248C43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8549C-397A-0002-E24A-570CCECBAB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00BB0F-5859-094E-0369-1D934BA62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32E38-8E61-AC9F-6FF1-341411E8D4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79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CCEF-308D-598D-9D35-D6FF3F6EA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8EB0B-39E6-861B-2623-679986D6E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47B4F-D908-9AF4-C1EA-28F4014C1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4BB54-2CB2-40D6-E6E1-2200E48246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720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6240-51E3-E2DF-4245-72E93312C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40875-E11F-4C68-8239-1C176D516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1E405C-7308-1B94-3284-3A997E0FDC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7F8C0-3E85-78F7-C4CD-C37114480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798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C4C0-F3A0-F1B8-D975-3F967E729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BB23F-BDAC-0739-E195-2800AF1E4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A52B0-2B3E-9D6A-CED6-5AB9F1D60D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373CE-895B-7900-F788-842406024B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65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70F2-8DA3-E4EA-98F4-B89E2975B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579092-E8DC-DE05-9EA5-AAB49ACF8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52BC1-5D44-9D99-CF4E-76258FFF9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A5659-F6E3-C33D-08E3-40BB442921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2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5339A-DEFC-1E88-2207-61307A47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700E6-A8DB-BD80-8BC2-5CA355E34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4878E4-2819-AD55-A45B-BEEA45CCD0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C95AD-3DE1-F657-0584-80CD85E321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448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D50C6-1E35-2872-FDEF-56F83766B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AC60DF-193F-8A4C-6AAE-4C04A6840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3CDDD-08AC-8766-7521-18E500CC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3E5C1-9912-B53A-563D-8DE206007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642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B8384-F36C-B159-1183-FEDBE4560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E2730-DF9E-4DEA-1B19-196CDE233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4812AC-1664-9AE2-9359-F34549030B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[44:00–44:30] SIGA A MVP CONF</a:t>
            </a:r>
          </a:p>
          <a:p>
            <a:r>
              <a:t>- Pedir para seguirem a MVP Conf e avaliarem a palestra.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4938B-988C-352B-3FB1-EA2B792FAC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154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50DEA-E846-6D1B-628A-BEB1876B1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65F356-F915-0541-55D3-FA117015A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C2A50-EC5C-37DF-9086-4F675051A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[44:30–50:00] OBRIGADO + PERGUNTAS</a:t>
            </a:r>
          </a:p>
          <a:p>
            <a:r>
              <a:t>- Deixar este slide (com os QR codes dos dois palestrantes) na tela durante todo o Q&amp;A.</a:t>
            </a:r>
          </a:p>
          <a:p>
            <a:r>
              <a:t>- Se faltarem perguntas, pergunta de reserva: "Qual seria o primeiro controle que vocês colocariam amanhã?"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FB109-8A15-1C0F-9D08-051C5D3AA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63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https://experience.mvpconf.com.br/patrocinadores/patrocinadores.png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hyperlink" Target="https://g1.globo.com/economia/noticia/2014/12/black-friday-gerou-mais-de-12-mil-reclamacoes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hyperlink" Target="https://www.uol.com.br/tilt/noticias/redacao/2015/11/27/black-friday-no-brasil-comeca-com-instabilidade-nos-sites-de-compras.ht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hyperlink" Target="https://g1.globo.com/economia/noticia/black-friday-veja-os-principais-problemas-dos-ultimos-anos-e-listas-de-empresas-mais-reclamadas.ghtml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hyperlink" Target="https://keda.sh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1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>
            <a:extLst>
              <a:ext uri="{FF2B5EF4-FFF2-40B4-BE49-F238E27FC236}">
                <a16:creationId xmlns:a16="http://schemas.microsoft.com/office/drawing/2014/main" id="{D9D0CCDF-D0E3-A93B-8759-44BAE678CD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6825" y="1540218"/>
            <a:ext cx="3438525" cy="650531"/>
          </a:xfrm>
          <a:prstGeom prst="rect">
            <a:avLst/>
          </a:prstGeom>
        </p:spPr>
      </p:pic>
      <p:pic>
        <p:nvPicPr>
          <p:cNvPr id="5" name="Frame 1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A42FFC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248275" y="1543050"/>
            <a:ext cx="1933575" cy="647700"/>
          </a:xfrm>
          <a:prstGeom prst="rect">
            <a:avLst/>
          </a:prstGeom>
        </p:spPr>
      </p:pic>
      <p:sp>
        <p:nvSpPr>
          <p:cNvPr id="6" name="Tecnologia com propsito pessoas em movimento"/>
          <p:cNvSpPr/>
          <p:nvPr/>
        </p:nvSpPr>
        <p:spPr>
          <a:xfrm>
            <a:off x="1257300" y="2769328"/>
            <a:ext cx="8763000" cy="3579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  <a:sym typeface="Oswald"/>
              </a:rPr>
              <a:t>Microservices</a:t>
            </a: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  <a:sym typeface="Oswald"/>
              </a:rPr>
              <a:t>, Mensageria e Escalabilidade</a:t>
            </a:r>
            <a:endParaRPr lang="en-US" sz="6600" b="1" dirty="0">
              <a:solidFill>
                <a:srgbClr val="FF0000"/>
              </a:solidFill>
              <a:latin typeface="Maven Pro Black" pitchFamily="2" charset="77"/>
              <a:ea typeface="Maven Pro Regular" pitchFamily="34" charset="-122"/>
              <a:cs typeface="Maven Pro Regular" pitchFamily="34" charset="-120"/>
            </a:endParaRPr>
          </a:p>
          <a:p>
            <a:r>
              <a:rPr lang="pt-BR" sz="4000" b="1" dirty="0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  <a:sym typeface="Oswald"/>
              </a:rPr>
              <a:t>com Azure + </a:t>
            </a:r>
            <a:r>
              <a:rPr lang="pt-BR" sz="4000" b="1" dirty="0" err="1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  <a:sym typeface="Oswald"/>
              </a:rPr>
              <a:t>Kubernetes</a:t>
            </a:r>
            <a:r>
              <a:rPr lang="pt-BR" sz="4000" b="1" dirty="0">
                <a:solidFill>
                  <a:srgbClr val="364459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  <a:sym typeface="Oswald"/>
              </a:rPr>
              <a:t> + KEDA</a:t>
            </a:r>
          </a:p>
        </p:txBody>
      </p:sp>
      <p:sp>
        <p:nvSpPr>
          <p:cNvPr id="8" name="Edio 2025"/>
          <p:cNvSpPr/>
          <p:nvPr/>
        </p:nvSpPr>
        <p:spPr>
          <a:xfrm>
            <a:off x="5592273" y="1590675"/>
            <a:ext cx="124557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008CFD"/>
                </a:solidFill>
                <a:latin typeface="Maven Pro Black" pitchFamily="2" charset="77"/>
                <a:ea typeface="Maven Pro Medium" pitchFamily="34" charset="-122"/>
                <a:cs typeface="Maven Pro Medium" pitchFamily="34" charset="-120"/>
              </a:rPr>
              <a:t>2026</a:t>
            </a:r>
            <a:endParaRPr lang="en-US" sz="28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9" name="contatomvpconfcombr"/>
          <p:cNvSpPr/>
          <p:nvPr/>
        </p:nvSpPr>
        <p:spPr>
          <a:xfrm>
            <a:off x="1266825" y="6734175"/>
            <a:ext cx="749807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6" b="1" dirty="0"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Renato Groffe &amp; Diego Matos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258DE960-FC0A-771A-B4D6-2432D70C2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2227" y="2346960"/>
            <a:ext cx="9921512" cy="794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B89790-66CB-1C69-D845-44C8F48A7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16BCADB-6B58-B706-96D4-1428A9B82B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577" y="732972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219689D-32D4-2514-A99E-1CE61F1D70EF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64459">
                    <a:alpha val="60000"/>
                  </a:srgbClr>
                </a:solidFill>
                <a:effectLst/>
                <a:uLnTx/>
                <a:uFillTx/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E71CF8BE-6CA3-C07F-6F81-3CB3EC963B29}"/>
              </a:ext>
            </a:extLst>
          </p:cNvPr>
          <p:cNvSpPr/>
          <p:nvPr/>
        </p:nvSpPr>
        <p:spPr>
          <a:xfrm>
            <a:off x="4320564" y="511901"/>
            <a:ext cx="10763207" cy="14931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95833"/>
              </a:lnSpc>
              <a:spcBef>
                <a:spcPts val="0"/>
              </a:spcBef>
              <a:spcAft>
                <a:spcPts val="8023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Nossos</a:t>
            </a:r>
            <a:r>
              <a:rPr kumimoji="0" 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8CFD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kumimoji="0" lang="en-US" sz="6600" b="1" i="0" u="none" strike="noStrike" kern="1200" cap="none" spc="0" normalizeH="0" baseline="0" noProof="0" dirty="0" err="1">
                <a:ln>
                  <a:noFill/>
                </a:ln>
                <a:solidFill>
                  <a:srgbClr val="008CFD"/>
                </a:solidFill>
                <a:effectLst/>
                <a:uLnTx/>
                <a:uFillTx/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Patrocinadores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8CFD"/>
              </a:solidFill>
              <a:effectLst/>
              <a:uLnTx/>
              <a:uFillTx/>
              <a:latin typeface="Maven Pro Black" pitchFamily="2" charset="77"/>
              <a:ea typeface="+mn-ea"/>
              <a:cs typeface="+mn-cs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8B0F5D27-72DF-1565-C3BC-78A909E4F801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2355"/>
              </a:spcAft>
              <a:buClrTx/>
              <a:buSzTx/>
              <a:buFontTx/>
              <a:buNone/>
              <a:tabLst/>
              <a:defRPr/>
            </a:pPr>
            <a:endParaRPr kumimoji="0" lang="en-US" sz="2552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ven Pro Medium" pitchFamily="2" charset="77"/>
              <a:ea typeface="+mn-ea"/>
              <a:cs typeface="+mn-cs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FF1414C9-2822-4294-76B9-A94612D9EADC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ven Pro ExtraBold" pitchFamily="2" charset="77"/>
                <a:ea typeface="+mn-ea"/>
                <a:cs typeface="+mn-cs"/>
              </a:rPr>
              <a:t>2026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CA3A80F-7EA4-986A-FD36-CB89CCB23FA9}"/>
              </a:ext>
            </a:extLst>
          </p:cNvPr>
          <p:cNvPicPr>
            <a:picLocks noChangeAspect="1"/>
          </p:cNvPicPr>
          <p:nvPr/>
        </p:nvPicPr>
        <p:blipFill>
          <a:blip r:embed="rId4" r:link="rId5"/>
          <a:stretch>
            <a:fillRect/>
          </a:stretch>
        </p:blipFill>
        <p:spPr>
          <a:xfrm>
            <a:off x="2424095" y="1622207"/>
            <a:ext cx="13439810" cy="755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943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62CA1096-7333-6B0B-152C-CC0F3A52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pic>
        <p:nvPicPr>
          <p:cNvPr id="3" name="Rectangl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1250" y="0"/>
            <a:ext cx="4143375" cy="10287000"/>
          </a:xfrm>
          <a:prstGeom prst="rect">
            <a:avLst/>
          </a:prstGeom>
          <a:ln>
            <a:solidFill>
              <a:srgbClr val="008CFD"/>
            </a:solidFill>
          </a:ln>
        </p:spPr>
      </p:pic>
      <p:sp>
        <p:nvSpPr>
          <p:cNvPr id="10" name="wwwmvpconfcombr"/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635BC9D7-C259-D260-9FFB-D86DB2009CB8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13" name="Google Shape;78;p4"/>
          <p:cNvSpPr txBox="1">
            <a:spLocks/>
          </p:cNvSpPr>
          <p:nvPr/>
        </p:nvSpPr>
        <p:spPr>
          <a:xfrm>
            <a:off x="1005840" y="2922564"/>
            <a:ext cx="91440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Microsoft Most Valuable Professional (MVP)</a:t>
            </a: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Docker Captain</a:t>
            </a: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Grafana Champion</a:t>
            </a: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APISEC U Ambassador</a:t>
            </a: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Multi-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Plataform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Technical Audience Contributor (MTAC)</a:t>
            </a:r>
          </a:p>
          <a:p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Arquiteto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de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Soluções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/Software</a:t>
            </a: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+25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anos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de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experiência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na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área</a:t>
            </a:r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de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Tecnologia</a:t>
            </a:r>
            <a:endParaRPr lang="en-US" sz="2600" dirty="0">
              <a:solidFill>
                <a:schemeClr val="bg1"/>
              </a:solidFill>
              <a:latin typeface="Maven Pro Regular" panose="020B0604020202020204" charset="0"/>
              <a:cs typeface="Maven Pro Regular" panose="020B0604020202020204" charset="0"/>
            </a:endParaRPr>
          </a:p>
          <a:p>
            <a:r>
              <a:rPr lang="en-US" sz="26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Community Leader, Autor Técnico e </a:t>
            </a:r>
            <a:r>
              <a:rPr lang="en-US" sz="26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Palestrante</a:t>
            </a:r>
            <a:endParaRPr lang="en-US" sz="2800" dirty="0">
              <a:solidFill>
                <a:schemeClr val="bg1"/>
              </a:solidFill>
              <a:latin typeface="Maven Pro Regular" panose="020B0604020202020204" charset="0"/>
              <a:cs typeface="Maven Pro Regular" panose="020B0604020202020204" charset="0"/>
            </a:endParaRPr>
          </a:p>
        </p:txBody>
      </p:sp>
      <p:sp>
        <p:nvSpPr>
          <p:cNvPr id="14" name="Google Shape;77;p4"/>
          <p:cNvSpPr txBox="1">
            <a:spLocks/>
          </p:cNvSpPr>
          <p:nvPr/>
        </p:nvSpPr>
        <p:spPr>
          <a:xfrm>
            <a:off x="1005840" y="1811215"/>
            <a:ext cx="9326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000"/>
            </a:pPr>
            <a:r>
              <a:rPr lang="en-US" sz="7200" b="1" dirty="0">
                <a:solidFill>
                  <a:schemeClr val="bg1"/>
                </a:solidFill>
                <a:latin typeface="Maven Pro Black" panose="020B0604020202020204" charset="0"/>
                <a:cs typeface="Maven Pro Black" panose="020B0604020202020204" charset="0"/>
              </a:rPr>
              <a:t>Renato Groffe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0" y="1874520"/>
            <a:ext cx="6583680" cy="6583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744200" y="2011680"/>
            <a:ext cx="6309360" cy="6309360"/>
          </a:xfrm>
          <a:prstGeom prst="roundRect">
            <a:avLst>
              <a:gd name="adj" fmla="val 6000"/>
            </a:avLst>
          </a:prstGeom>
        </p:spPr>
      </p:pic>
      <p:sp>
        <p:nvSpPr>
          <p:cNvPr id="19" name="TextBox 18"/>
          <p:cNvSpPr txBox="1"/>
          <p:nvPr/>
        </p:nvSpPr>
        <p:spPr>
          <a:xfrm>
            <a:off x="1005840" y="1308295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aven Pro ExtraBold"/>
              </a:rPr>
              <a:t>PALESTRANTE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" y="7098321"/>
            <a:ext cx="7315200" cy="2331720"/>
          </a:xfrm>
          <a:prstGeom prst="roundRect">
            <a:avLst>
              <a:gd name="adj" fmla="val 12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7555521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FFFFFF"/>
                </a:solidFill>
                <a:latin typeface="Maven Pro Black"/>
              </a:rPr>
              <a:t>Conecte-se comigo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8241321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aven Pro Regular"/>
              </a:rPr>
              <a:t>Aponte a câmera para o QR code</a:t>
            </a:r>
          </a:p>
        </p:txBody>
      </p:sp>
      <p:pic>
        <p:nvPicPr>
          <p:cNvPr id="5" name="Imagem 4" descr="Código QR&#10;&#10;O conteúdo gerado por IA pode estar incorreto.">
            <a:extLst>
              <a:ext uri="{FF2B5EF4-FFF2-40B4-BE49-F238E27FC236}">
                <a16:creationId xmlns:a16="http://schemas.microsoft.com/office/drawing/2014/main" id="{038CCC32-0E1A-F8CE-C180-313FFA3120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9801" y="7256328"/>
            <a:ext cx="1949218" cy="194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62CA1096-7333-6B0B-152C-CC0F3A52A1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pic>
        <p:nvPicPr>
          <p:cNvPr id="2" name="Rectangle 7" descr="preencoded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008CFD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14144625" y="0"/>
            <a:ext cx="4143375" cy="10287000"/>
          </a:xfrm>
          <a:prstGeom prst="rect">
            <a:avLst/>
          </a:prstGeom>
        </p:spPr>
      </p:pic>
      <p:pic>
        <p:nvPicPr>
          <p:cNvPr id="3" name="Rectangle 8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1250" y="0"/>
            <a:ext cx="4143375" cy="10287000"/>
          </a:xfrm>
          <a:prstGeom prst="rect">
            <a:avLst/>
          </a:prstGeom>
          <a:ln>
            <a:solidFill>
              <a:srgbClr val="008CFD"/>
            </a:solidFill>
          </a:ln>
        </p:spPr>
      </p:pic>
      <p:sp>
        <p:nvSpPr>
          <p:cNvPr id="10" name="wwwmvpconfcombr"/>
          <p:cNvSpPr/>
          <p:nvPr/>
        </p:nvSpPr>
        <p:spPr>
          <a:xfrm>
            <a:off x="14867467" y="9182100"/>
            <a:ext cx="26871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FFFFF">
                    <a:alpha val="60000"/>
                  </a:srgbClr>
                </a:solidFill>
                <a:latin typeface="Maven Pro SemiBold" pitchFamily="2" charset="77"/>
                <a:ea typeface="Inter" panose="02000503000000020004" pitchFamily="2" charset="0"/>
                <a:cs typeface="Maven Pro Regular" pitchFamily="34" charset="-120"/>
              </a:rPr>
              <a:t>www.mvpconf.com.br</a:t>
            </a:r>
            <a:endParaRPr lang="en-US" sz="1800" b="1" dirty="0">
              <a:latin typeface="Maven Pro SemiBold" pitchFamily="2" charset="77"/>
              <a:ea typeface="Inter" panose="02000503000000020004" pitchFamily="2" charset="0"/>
            </a:endParaRPr>
          </a:p>
        </p:txBody>
      </p:sp>
      <p:sp>
        <p:nvSpPr>
          <p:cNvPr id="15" name="Terminador 14">
            <a:extLst>
              <a:ext uri="{FF2B5EF4-FFF2-40B4-BE49-F238E27FC236}">
                <a16:creationId xmlns:a16="http://schemas.microsoft.com/office/drawing/2014/main" id="{635BC9D7-C259-D260-9FFB-D86DB2009CB8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13" name="Google Shape;78;p4"/>
          <p:cNvSpPr txBox="1">
            <a:spLocks/>
          </p:cNvSpPr>
          <p:nvPr/>
        </p:nvSpPr>
        <p:spPr>
          <a:xfrm>
            <a:off x="1005840" y="3977639"/>
            <a:ext cx="9144000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Microsoft Most </a:t>
            </a:r>
            <a:r>
              <a:rPr lang="pt-BR" sz="24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Valuable</a:t>
            </a:r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 Professional (MVP)</a:t>
            </a:r>
          </a:p>
          <a:p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CTO, Arquiteto de Soluções/Infraestrutura (Cloud2Go)</a:t>
            </a:r>
          </a:p>
          <a:p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+15 anos de experiência na área de Tecnologia</a:t>
            </a:r>
          </a:p>
          <a:p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Community </a:t>
            </a:r>
            <a:r>
              <a:rPr lang="pt-BR" sz="2400" dirty="0" err="1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Leader</a:t>
            </a:r>
            <a:r>
              <a:rPr lang="pt-BR" sz="2400" dirty="0">
                <a:solidFill>
                  <a:schemeClr val="bg1"/>
                </a:solidFill>
                <a:latin typeface="Maven Pro Regular" panose="020B0604020202020204" charset="0"/>
                <a:cs typeface="Maven Pro Regular" panose="020B0604020202020204" charset="0"/>
              </a:rPr>
              <a:t>, Autor Técnico e Palestrante</a:t>
            </a:r>
          </a:p>
          <a:p>
            <a:endParaRPr lang="en-US" sz="2400" dirty="0">
              <a:solidFill>
                <a:schemeClr val="bg1"/>
              </a:solidFill>
              <a:latin typeface="Maven Pro Regular" panose="020B0604020202020204" charset="0"/>
              <a:cs typeface="Maven Pro Regular" panose="020B0604020202020204" charset="0"/>
            </a:endParaRPr>
          </a:p>
        </p:txBody>
      </p:sp>
      <p:sp>
        <p:nvSpPr>
          <p:cNvPr id="14" name="Google Shape;77;p4"/>
          <p:cNvSpPr txBox="1">
            <a:spLocks/>
          </p:cNvSpPr>
          <p:nvPr/>
        </p:nvSpPr>
        <p:spPr>
          <a:xfrm>
            <a:off x="1005840" y="2514600"/>
            <a:ext cx="932688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Bef>
                <a:spcPts val="0"/>
              </a:spcBef>
              <a:buSzPts val="3000"/>
            </a:pPr>
            <a:r>
              <a:rPr lang="en-US" sz="7200" b="1" dirty="0">
                <a:solidFill>
                  <a:schemeClr val="bg1"/>
                </a:solidFill>
                <a:latin typeface="Maven Pro Black" panose="020B0604020202020204" charset="0"/>
                <a:cs typeface="Maven Pro Black" panose="020B0604020202020204" charset="0"/>
              </a:rPr>
              <a:t>Diego Matos</a:t>
            </a:r>
            <a:endParaRPr lang="en-US" b="1" dirty="0">
              <a:solidFill>
                <a:schemeClr val="bg1"/>
              </a:solidFill>
              <a:latin typeface="Maven Pro Black" panose="020B0604020202020204" charset="0"/>
              <a:cs typeface="Maven Pro Black" panose="020B06040202020202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0607040" y="1874520"/>
            <a:ext cx="6583680" cy="65836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rcRect t="857" b="857"/>
          <a:stretch/>
        </p:blipFill>
        <p:spPr>
          <a:xfrm>
            <a:off x="10744200" y="2011680"/>
            <a:ext cx="6309360" cy="6309360"/>
          </a:xfrm>
          <a:prstGeom prst="roundRect">
            <a:avLst>
              <a:gd name="adj" fmla="val 6000"/>
            </a:avLst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20116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aven Pro ExtraBold"/>
              </a:rPr>
              <a:t>PALESTRANTE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6629400"/>
            <a:ext cx="7315200" cy="2331720"/>
          </a:xfrm>
          <a:prstGeom prst="roundRect">
            <a:avLst>
              <a:gd name="adj" fmla="val 12000"/>
            </a:avLst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20440" y="708660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>
                <a:solidFill>
                  <a:srgbClr val="FFFFFF"/>
                </a:solidFill>
                <a:latin typeface="Maven Pro Black"/>
              </a:rPr>
              <a:t>Conecte-se comigo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77724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>
                <a:solidFill>
                  <a:srgbClr val="FFFFFF"/>
                </a:solidFill>
                <a:latin typeface="Maven Pro Regular"/>
              </a:rPr>
              <a:t>Aponte a câmera para o QR code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6F17F42-7A53-5DF2-63B7-64186885D2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5688" y="6787808"/>
            <a:ext cx="2014904" cy="201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763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75F37-D1EB-1062-2B25-4B969AA5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FAEBD190-A42C-4B4B-AF62-6259E742E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0DB91107-AF5C-DBA7-111F-DF2F9B0BA43D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CCDDD45A-1769-BD75-F903-89F3F147C6A9}"/>
              </a:ext>
            </a:extLst>
          </p:cNvPr>
          <p:cNvSpPr/>
          <p:nvPr/>
        </p:nvSpPr>
        <p:spPr>
          <a:xfrm>
            <a:off x="762000" y="2441585"/>
            <a:ext cx="7055224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696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Agenda</a:t>
            </a:r>
            <a:endParaRPr lang="en-US" sz="8696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489010DD-D305-588F-047C-C7D703F30369}"/>
              </a:ext>
            </a:extLst>
          </p:cNvPr>
          <p:cNvSpPr/>
          <p:nvPr/>
        </p:nvSpPr>
        <p:spPr>
          <a:xfrm>
            <a:off x="6234545" y="2507674"/>
            <a:ext cx="11042073" cy="6674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Escalabilidade e aplicações modernas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Escalabilidade no </a:t>
            </a: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e o projeto KEDA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Suporte a escalabilidade com </a:t>
            </a: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no Azure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Um exemplo prático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6BC45A9-4EA3-F7B2-129E-CE2D6811F171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4A603C0E-67AB-7F2D-A911-AF513C3B51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287" y="4842756"/>
            <a:ext cx="2290763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1">
            <a:extLst>
              <a:ext uri="{FF2B5EF4-FFF2-40B4-BE49-F238E27FC236}">
                <a16:creationId xmlns:a16="http://schemas.microsoft.com/office/drawing/2014/main" id="{C7B0C1A3-168A-3C74-BA5E-D88B1C4B0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1152" b="27022"/>
          <a:stretch>
            <a:fillRect/>
          </a:stretch>
        </p:blipFill>
        <p:spPr bwMode="auto">
          <a:xfrm>
            <a:off x="2827050" y="4974099"/>
            <a:ext cx="2438400" cy="229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áfico 1">
            <a:extLst>
              <a:ext uri="{FF2B5EF4-FFF2-40B4-BE49-F238E27FC236}">
                <a16:creationId xmlns:a16="http://schemas.microsoft.com/office/drawing/2014/main" id="{7672CBC6-2F2C-A2BE-E94C-F382F45CA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4375" y="6880225"/>
            <a:ext cx="2301875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65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AEB2-30D2-743E-0743-3D2EE46C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28B6CEA-45BE-0CAA-7166-ED5BAE7422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C000536-066A-ED0B-FF0D-05520E1EA31A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EF4FD082-97B9-C9B0-246D-82CC2AD1D763}"/>
              </a:ext>
            </a:extLst>
          </p:cNvPr>
          <p:cNvSpPr/>
          <p:nvPr/>
        </p:nvSpPr>
        <p:spPr>
          <a:xfrm>
            <a:off x="762000" y="2441585"/>
            <a:ext cx="5472545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Conteúdos</a:t>
            </a:r>
            <a:r>
              <a:rPr lang="en-US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desta</a:t>
            </a:r>
            <a:r>
              <a:rPr lang="en-US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apresentação</a:t>
            </a:r>
            <a:endParaRPr lang="en-US" sz="66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77D51A75-1CB0-BCAE-7FDC-65AC33CC090B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7EAF1C11-7ED3-ED01-AA3E-02B01800F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089" y="7383705"/>
            <a:ext cx="2290763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1">
            <a:extLst>
              <a:ext uri="{FF2B5EF4-FFF2-40B4-BE49-F238E27FC236}">
                <a16:creationId xmlns:a16="http://schemas.microsoft.com/office/drawing/2014/main" id="{7B782815-AD2B-FDAE-0F58-E5DBF21E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1152" b="27022"/>
          <a:stretch>
            <a:fillRect/>
          </a:stretch>
        </p:blipFill>
        <p:spPr bwMode="auto">
          <a:xfrm>
            <a:off x="10232641" y="7372593"/>
            <a:ext cx="2438400" cy="229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áfico 1">
            <a:extLst>
              <a:ext uri="{FF2B5EF4-FFF2-40B4-BE49-F238E27FC236}">
                <a16:creationId xmlns:a16="http://schemas.microsoft.com/office/drawing/2014/main" id="{398436F3-6C79-BD76-DCAA-9392392A40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809" y="7372593"/>
            <a:ext cx="2301875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5AC03133-CABA-A0AB-B82E-670CAD2DAF69}"/>
              </a:ext>
            </a:extLst>
          </p:cNvPr>
          <p:cNvSpPr>
            <a:spLocks noGrp="1"/>
          </p:cNvSpPr>
          <p:nvPr/>
        </p:nvSpPr>
        <p:spPr>
          <a:xfrm>
            <a:off x="762002" y="5921686"/>
            <a:ext cx="16792573" cy="6971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700" b="1" dirty="0">
                <a:solidFill>
                  <a:schemeClr val="bg1"/>
                </a:solidFill>
              </a:rPr>
              <a:t>github.com/renatogroffe/microservices-mensageria-escalabilidade-mvpconf-2026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3BC7791-389F-740C-7A9D-1CD00BC198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115" y="1137999"/>
            <a:ext cx="4365314" cy="436531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327F1E8-BBEB-DFDB-9AC8-8105010F59CC}"/>
              </a:ext>
            </a:extLst>
          </p:cNvPr>
          <p:cNvSpPr txBox="1">
            <a:spLocks/>
          </p:cNvSpPr>
          <p:nvPr/>
        </p:nvSpPr>
        <p:spPr>
          <a:xfrm>
            <a:off x="12022897" y="2730183"/>
            <a:ext cx="4659041" cy="14538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0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0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0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0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000" dirty="0"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0108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DDD8-FDDF-B805-31E4-0767A980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1C82B5A-4DED-A6BF-8BBC-14C1C2278D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3EA8E14-D4E9-CDF2-4EB7-8BE3FCC1FF7B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C5C55E3-A3B7-C2EE-78D5-5C10346A6A65}"/>
              </a:ext>
            </a:extLst>
          </p:cNvPr>
          <p:cNvSpPr/>
          <p:nvPr/>
        </p:nvSpPr>
        <p:spPr>
          <a:xfrm>
            <a:off x="762000" y="1343878"/>
            <a:ext cx="13203382" cy="110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Problemas</a:t>
            </a:r>
            <a:r>
              <a:rPr lang="en-US" sz="72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Escalabilidade</a:t>
            </a:r>
            <a:endParaRPr lang="en-US" sz="72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E7F304C6-8760-D5EA-352A-A40D3907D824}"/>
              </a:ext>
            </a:extLst>
          </p:cNvPr>
          <p:cNvSpPr/>
          <p:nvPr/>
        </p:nvSpPr>
        <p:spPr>
          <a:xfrm>
            <a:off x="733426" y="8800833"/>
            <a:ext cx="12349528" cy="169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altLang="pt-BR" sz="3200" dirty="0">
                <a:hlinkClick r:id="rId4"/>
              </a:rPr>
              <a:t>https://g1.globo.com/economia/noticia/2014/12/black-friday-gerou-mais-de-12-mil-reclamacoes.html</a:t>
            </a:r>
            <a:endParaRPr lang="pt-BR" altLang="pt-BR" sz="3200" b="1" dirty="0"/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B469AF02-AEF7-262D-BD18-9917ABD0A5A7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9" name="Imagem 4">
            <a:extLst>
              <a:ext uri="{FF2B5EF4-FFF2-40B4-BE49-F238E27FC236}">
                <a16:creationId xmlns:a16="http://schemas.microsoft.com/office/drawing/2014/main" id="{CE72358C-1E91-DF63-A072-3F3B21F59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9430" y="2862140"/>
            <a:ext cx="11637740" cy="5144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6557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D4603-ECD0-5FF9-EB37-99CAB5318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2C1E1ADA-9521-BB6E-398F-62424F2920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2BFDDE98-5A55-6BB2-AF82-DD3B6F41520F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FF416328-0F01-DEEC-B4A2-2F8BED2D3826}"/>
              </a:ext>
            </a:extLst>
          </p:cNvPr>
          <p:cNvSpPr/>
          <p:nvPr/>
        </p:nvSpPr>
        <p:spPr>
          <a:xfrm>
            <a:off x="762000" y="1343878"/>
            <a:ext cx="13203382" cy="110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Problemas</a:t>
            </a:r>
            <a:r>
              <a:rPr lang="en-US" sz="72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Escalabilidade</a:t>
            </a:r>
            <a:endParaRPr lang="en-US" sz="72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B86CB657-7C5C-2678-8454-7696FF1DD782}"/>
              </a:ext>
            </a:extLst>
          </p:cNvPr>
          <p:cNvSpPr/>
          <p:nvPr/>
        </p:nvSpPr>
        <p:spPr>
          <a:xfrm>
            <a:off x="733426" y="8800833"/>
            <a:ext cx="12349528" cy="169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altLang="pt-BR" sz="3200" dirty="0">
                <a:hlinkClick r:id="rId4"/>
              </a:rPr>
              <a:t>https://www.uol.com.br/tilt/noticias/redacao/2015/11/27/black-friday-no-brasil-comeca-com-instabilidade-nos-sites-de-compras.htm</a:t>
            </a:r>
            <a:endParaRPr lang="pt-BR" altLang="pt-BR" sz="3200" b="1" dirty="0"/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7205B34-4820-45D3-F481-05E5F1BB44A5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B0CBB35-D3B8-F1F5-B040-67B4874A2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502" y="2870292"/>
            <a:ext cx="14286441" cy="5425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85578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F3BC-CB1B-86DF-3EDD-F6932DCA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8310E73-E050-FAA6-C8DE-B381AA7781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73A3D7BA-0B7F-399D-E38A-EEF53BE3CC7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57501B7-915E-82EF-6F90-0CB4837959C1}"/>
              </a:ext>
            </a:extLst>
          </p:cNvPr>
          <p:cNvSpPr/>
          <p:nvPr/>
        </p:nvSpPr>
        <p:spPr>
          <a:xfrm>
            <a:off x="762000" y="1343878"/>
            <a:ext cx="13203382" cy="1105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Problemas</a:t>
            </a:r>
            <a:r>
              <a:rPr lang="en-US" sz="72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de </a:t>
            </a:r>
            <a:r>
              <a:rPr lang="en-US" sz="72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Escalabilidade</a:t>
            </a:r>
            <a:endParaRPr lang="en-US" sz="72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9485D3DA-E615-A01C-BD45-547106F1D79B}"/>
              </a:ext>
            </a:extLst>
          </p:cNvPr>
          <p:cNvSpPr/>
          <p:nvPr/>
        </p:nvSpPr>
        <p:spPr>
          <a:xfrm>
            <a:off x="733426" y="8800833"/>
            <a:ext cx="12349528" cy="169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t-BR" altLang="pt-BR" sz="3200" dirty="0">
                <a:hlinkClick r:id="rId4"/>
              </a:rPr>
              <a:t>https://g1.globo.com/economia/noticia/black-friday-veja-os-principais-problemas-dos-ultimos-anos-e-listas-de-empresas-mais-reclamadas.ghtml</a:t>
            </a:r>
            <a:endParaRPr lang="pt-BR" altLang="pt-BR" sz="3200" b="1" dirty="0"/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748A91D-7F88-75AC-CE0B-057243BEE146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4" name="Imagem 2">
            <a:extLst>
              <a:ext uri="{FF2B5EF4-FFF2-40B4-BE49-F238E27FC236}">
                <a16:creationId xmlns:a16="http://schemas.microsoft.com/office/drawing/2014/main" id="{2F0A6A7F-B428-49EB-236A-24200F323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773" y="2667542"/>
            <a:ext cx="9426718" cy="5840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42044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FE181-4DC6-AC95-25AA-41A9C90F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6B23EF1-51B5-0947-4E18-ECF33A6F78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D5153484-DEBB-3E3B-B428-C2159FC04965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EAD10C42-0AC1-5CE7-CE85-1D718912909A}"/>
              </a:ext>
            </a:extLst>
          </p:cNvPr>
          <p:cNvSpPr/>
          <p:nvPr/>
        </p:nvSpPr>
        <p:spPr>
          <a:xfrm>
            <a:off x="762000" y="1671160"/>
            <a:ext cx="7055224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Aplicações modernas: alguns aspectos importantes</a:t>
            </a:r>
            <a:endParaRPr lang="en-US" sz="66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7607F568-6566-00EB-A9A0-0EF41791E3C1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Alta disponibilidade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Escalabilidade horizontal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Comunicação assíncrona, Mensageria, Eventos...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Containers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36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Microservices</a:t>
            </a:r>
            <a:endParaRPr lang="pt-BR" sz="36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6DFC8847-71AB-5999-A5F3-CE793048173A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7" name="Gráfico 1">
            <a:extLst>
              <a:ext uri="{FF2B5EF4-FFF2-40B4-BE49-F238E27FC236}">
                <a16:creationId xmlns:a16="http://schemas.microsoft.com/office/drawing/2014/main" id="{77D281BC-07E7-D2B8-9BF8-1363D5C91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87" y="5804333"/>
            <a:ext cx="4146772" cy="414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7671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B8BD6-8C3C-0FD1-FB20-AF301D0CC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A353DE1-FD6E-3677-E88E-82DCF33285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DD3B829F-6F23-4006-5AA7-7B0B26E50623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86F9451-79D1-61C9-8DB1-60A42B0745A4}"/>
              </a:ext>
            </a:extLst>
          </p:cNvPr>
          <p:cNvSpPr/>
          <p:nvPr/>
        </p:nvSpPr>
        <p:spPr>
          <a:xfrm>
            <a:off x="762000" y="1671160"/>
            <a:ext cx="7055224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Mensageria e aplicações</a:t>
            </a:r>
            <a:endParaRPr lang="en-US" sz="66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66C76A29-DA6C-4AA0-E7C3-918454FF435B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Facilidade de integração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Desacoplamento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Tolerância a falhas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Escalabilidade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9E191973-2074-EF39-CC98-87308CFFA928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7" name="Gráfico 1">
            <a:extLst>
              <a:ext uri="{FF2B5EF4-FFF2-40B4-BE49-F238E27FC236}">
                <a16:creationId xmlns:a16="http://schemas.microsoft.com/office/drawing/2014/main" id="{2A000FBD-3F9E-5E49-A7D3-8FE3C8C0D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387" y="3928642"/>
            <a:ext cx="4146772" cy="4146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2971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81625-12CB-45B0-040A-CB2B4D214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2E1EDC7-47ED-30AF-7DCC-419E60687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47D74496-1FFA-4DDE-7105-ECC6722DBDAC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03332A94-94F8-80A5-5115-35CED6712677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Como o </a:t>
            </a:r>
            <a:r>
              <a:rPr lang="pt-BR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pode ser útil?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C11A9FA8-3E5A-4F21-3904-B10E220DBFFF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Orquestração de containers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Autoscaling</a:t>
            </a: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aplicações</a:t>
            </a:r>
          </a:p>
          <a:p>
            <a:pPr marL="457200" indent="-457200" algn="just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Mecanismos de Health </a:t>
            </a:r>
            <a:r>
              <a:rPr lang="pt-BR" sz="48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Check</a:t>
            </a:r>
            <a:endParaRPr lang="pt-BR" sz="48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9B980612-C5B3-C573-B247-AD2A84D4D6F6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1">
            <a:extLst>
              <a:ext uri="{FF2B5EF4-FFF2-40B4-BE49-F238E27FC236}">
                <a16:creationId xmlns:a16="http://schemas.microsoft.com/office/drawing/2014/main" id="{6BA828EF-0636-E459-C618-1540A6F6B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1152" b="27022"/>
          <a:stretch>
            <a:fillRect/>
          </a:stretch>
        </p:blipFill>
        <p:spPr bwMode="auto">
          <a:xfrm>
            <a:off x="1011382" y="5143500"/>
            <a:ext cx="4811590" cy="452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4312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56613-D5FF-94D9-DD19-602B0C7E8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E7AD7FF-766E-F348-838B-066CB3D5D6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0287D0D8-0AAF-728C-24B0-159F74D3D654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A2E200BE-DA33-BD10-BF36-95F63C6309B7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Horizontal </a:t>
            </a:r>
            <a:r>
              <a:rPr lang="pt-BR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Pod</a:t>
            </a: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Autoscaling</a:t>
            </a:r>
            <a:r>
              <a:rPr lang="pt-BR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(HPA)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942704E8-F04E-6228-C47D-9D73C0ED9886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Mecanismo nativo do </a:t>
            </a:r>
            <a:r>
              <a:rPr lang="pt-BR" sz="48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para escalabilidade horizontal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Baseado em métricas como uso de CPU, média de utilização de memória...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Limitações com métricas customizadas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F2B1DB2-A339-7660-8CBC-9D2C255F0068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1">
            <a:extLst>
              <a:ext uri="{FF2B5EF4-FFF2-40B4-BE49-F238E27FC236}">
                <a16:creationId xmlns:a16="http://schemas.microsoft.com/office/drawing/2014/main" id="{C0020B05-7A04-1C75-92CC-686E26B5B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1152" b="27022"/>
          <a:stretch>
            <a:fillRect/>
          </a:stretch>
        </p:blipFill>
        <p:spPr bwMode="auto">
          <a:xfrm>
            <a:off x="1011382" y="5143500"/>
            <a:ext cx="4811590" cy="452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6279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EE89-EFCF-4E1C-B7C4-A9CCC455F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E6477AF0-1074-56BD-1B0D-A0447D6BF1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FA8D990C-1BE6-7BA5-6644-3773A22A5BFB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1981D4D9-21F2-EB35-D1BF-0E81156CEE99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60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Métricas customizadas x Escalabilidade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D5960278-7D5D-EDCB-2876-EC6279C50A27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Eventos acumulados para processamento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Quantidade de mensagens enfileiradas para processamento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Requisições HTTP por segundo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Registros a processar em um banco de dados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...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A0FA8805-82F1-7894-2125-769737700ECA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4" name="Imagem 2" descr="Uma imagem contendo relógio, objeto, placar&#10;&#10;Descrição gerada automaticamente">
            <a:extLst>
              <a:ext uri="{FF2B5EF4-FFF2-40B4-BE49-F238E27FC236}">
                <a16:creationId xmlns:a16="http://schemas.microsoft.com/office/drawing/2014/main" id="{5C87FE40-E16C-24A7-EA3F-FB1E7A6FA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918" y="5370390"/>
            <a:ext cx="3811710" cy="3811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1393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02878-2EB6-B7A4-A0E2-07757B79E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9C2F2805-51CA-6BB9-2377-4ECAED5E25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C6D76F40-EB71-0988-A9A8-E93094126A11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9E6296FF-4D63-BAD5-F40F-6B3E8A0BE399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 como escalar com base em métricas customizadas?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F0FB8717-EED6-A586-D328-CDDED488FFC0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 projeto pode 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KEDA (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Event-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driven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Autoscaling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)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ser uma excelente resposta!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Site oficial: 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  <a:hlinkClick r:id="rId4"/>
              </a:rPr>
              <a:t>https://keda.sh/</a:t>
            </a: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ACD7710-1EBA-B7F8-8E0B-4F8C244FCC82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4" name="Imagem 2" descr="Uma imagem contendo relógio, objeto, placar&#10;&#10;Descrição gerada automaticamente">
            <a:extLst>
              <a:ext uri="{FF2B5EF4-FFF2-40B4-BE49-F238E27FC236}">
                <a16:creationId xmlns:a16="http://schemas.microsoft.com/office/drawing/2014/main" id="{4261F6D3-8078-D352-30A1-9F629807A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63" y="7132872"/>
            <a:ext cx="2392128" cy="239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97D6D937-BA8A-355A-9618-673251A141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773" y="4334554"/>
            <a:ext cx="3507563" cy="350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4835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9D0C8-2305-FF06-C66C-5C455254E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AC1B8A20-963A-7E0A-38E3-5C9D9BD68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CFE17500-5673-EBB0-D05C-B112DCCD35F1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4B64C80F-F74A-47D2-9811-42366DEE801A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 projeto KEDA: uma visão geral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90252EEB-640F-1C44-2328-D170CC6B8283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Escalabilidade horizontal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aplicações de forma descomplicada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Uso do 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HPA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no 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endParaRPr lang="pt-BR" sz="4400" b="1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Um projeto 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open 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source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apoiado pela 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Cloud 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Native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44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Computing</a:t>
            </a:r>
            <a:r>
              <a:rPr lang="pt-BR" sz="44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Foundation (CNCF)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C243D17A-8806-5B7E-9205-260842CCDD9B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D0F986FD-2882-9690-5575-E16B4A245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82" y="3789130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724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7309-6E4E-8ECB-0A2C-A51D32EC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6083C6DC-53E6-6199-F91B-9A76FDAC70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DDF3723D-1F60-B1EE-D228-2D238551B67C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7F7EA49-A1AC-4E8F-2C4D-4DB2CA975F78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 projeto KEDA: uma visão geral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8CBCD37A-5B1C-9C32-AF3C-B915E6AB0947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Objetos estendem um </a:t>
            </a:r>
            <a:r>
              <a:rPr lang="pt-BR" sz="40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Deployment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, com as definições constando em um arquivo </a:t>
            </a:r>
            <a:r>
              <a:rPr lang="pt-BR" sz="40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YAML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ScaledObject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: estrutura com as regras (</a:t>
            </a:r>
            <a:r>
              <a:rPr lang="pt-BR" sz="40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Scaler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) + </a:t>
            </a:r>
            <a:r>
              <a:rPr lang="pt-BR" sz="40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Trigger 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para efetuar o </a:t>
            </a:r>
            <a:r>
              <a:rPr lang="pt-BR" sz="40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autoscaling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de uma aplicação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000" b="1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TriggerAuthentication</a:t>
            </a:r>
            <a:r>
              <a:rPr lang="pt-BR" sz="4000" b="1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pt-BR" sz="40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(opcional): configurações de acesso a um recurso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43F5BAC3-4461-D0FD-1932-405A2B8B1559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6B037332-C737-F2F7-0BB4-3F860412DD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82" y="3789130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0398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5FA3C-F130-C484-EF36-696081ACB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C00BF261-BC2C-FE18-D8E1-995857C0DD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83E2F52E-414D-457C-5134-DB09D71CD67E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C8BAAA4-2BA5-9152-F783-5B2E0793DC16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KEDA + Mensageria e Eventos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52FDA975-4A5C-5ADC-0CF6-ADBACCB3DDCD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9CEA9403-81D7-B3F7-B4B8-18227252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14" y="3615242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Gráfico 2">
            <a:extLst>
              <a:ext uri="{FF2B5EF4-FFF2-40B4-BE49-F238E27FC236}">
                <a16:creationId xmlns:a16="http://schemas.microsoft.com/office/drawing/2014/main" id="{174531CA-67A2-0DFA-32D0-CA96A8F88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536" y="3884932"/>
            <a:ext cx="2411059" cy="2551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agem 5" descr="Uma imagem contendo placar, quarto&#10;&#10;Descrição gerada automaticamente">
            <a:extLst>
              <a:ext uri="{FF2B5EF4-FFF2-40B4-BE49-F238E27FC236}">
                <a16:creationId xmlns:a16="http://schemas.microsoft.com/office/drawing/2014/main" id="{F418938F-D646-5127-33B6-93EFFB59B3E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r="68661"/>
          <a:stretch/>
        </p:blipFill>
        <p:spPr>
          <a:xfrm>
            <a:off x="13568840" y="3768642"/>
            <a:ext cx="1835931" cy="2668018"/>
          </a:xfrm>
          <a:prstGeom prst="rect">
            <a:avLst/>
          </a:prstGeom>
        </p:spPr>
      </p:pic>
      <p:sp>
        <p:nvSpPr>
          <p:cNvPr id="9" name="CaixaDeTexto 4">
            <a:extLst>
              <a:ext uri="{FF2B5EF4-FFF2-40B4-BE49-F238E27FC236}">
                <a16:creationId xmlns:a16="http://schemas.microsoft.com/office/drawing/2014/main" id="{CA17E3F5-EED8-4645-D5B3-E489A3BC0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787" y="6687196"/>
            <a:ext cx="251838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 err="1"/>
              <a:t>RabbitMQ</a:t>
            </a:r>
            <a:endParaRPr lang="pt-BR" altLang="pt-BR" sz="4000" dirty="0"/>
          </a:p>
        </p:txBody>
      </p:sp>
      <p:sp>
        <p:nvSpPr>
          <p:cNvPr id="13" name="CaixaDeTexto 5">
            <a:extLst>
              <a:ext uri="{FF2B5EF4-FFF2-40B4-BE49-F238E27FC236}">
                <a16:creationId xmlns:a16="http://schemas.microsoft.com/office/drawing/2014/main" id="{40CFF68F-801B-8E9E-2AEE-8FBC59189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4678" y="6635530"/>
            <a:ext cx="251838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7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7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7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Apache Kafka</a:t>
            </a:r>
          </a:p>
        </p:txBody>
      </p:sp>
    </p:spTree>
    <p:extLst>
      <p:ext uri="{BB962C8B-B14F-4D97-AF65-F5344CB8AC3E}">
        <p14:creationId xmlns:p14="http://schemas.microsoft.com/office/powerpoint/2010/main" val="2247361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1EF27-D1D6-6484-5595-0B2EF55B6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CD44A092-ED62-F212-FE96-0E05FB853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68878CA-18DD-BBD5-8BF5-6AD55FE1D8E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A6317A3-6AAA-1C75-0850-31140D04CA77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KEDA + Mensageria e Eventos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3E3B69D8-0954-1ED4-7BDE-022EC62273AC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18094C49-808D-28AE-D18C-6B37434B1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14" y="3615242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4">
            <a:extLst>
              <a:ext uri="{FF2B5EF4-FFF2-40B4-BE49-F238E27FC236}">
                <a16:creationId xmlns:a16="http://schemas.microsoft.com/office/drawing/2014/main" id="{4763BBCE-9676-13CE-F437-6539DA2AD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14324" y="6687196"/>
            <a:ext cx="251838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Azure </a:t>
            </a:r>
            <a:r>
              <a:rPr lang="pt-BR" altLang="pt-BR" sz="4000" dirty="0" err="1"/>
              <a:t>Queue</a:t>
            </a:r>
            <a:r>
              <a:rPr lang="pt-BR" altLang="pt-BR" sz="4000" dirty="0"/>
              <a:t> </a:t>
            </a:r>
            <a:r>
              <a:rPr lang="pt-BR" altLang="pt-BR" sz="4000" dirty="0" err="1"/>
              <a:t>Storage</a:t>
            </a:r>
            <a:endParaRPr lang="pt-BR" altLang="pt-BR" sz="4000" dirty="0"/>
          </a:p>
        </p:txBody>
      </p:sp>
      <p:sp>
        <p:nvSpPr>
          <p:cNvPr id="13" name="CaixaDeTexto 5">
            <a:extLst>
              <a:ext uri="{FF2B5EF4-FFF2-40B4-BE49-F238E27FC236}">
                <a16:creationId xmlns:a16="http://schemas.microsoft.com/office/drawing/2014/main" id="{BCB309EA-4B36-5D33-C0B1-A601ACA036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30345" y="6635530"/>
            <a:ext cx="251838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Azure Service Bus</a:t>
            </a:r>
          </a:p>
        </p:txBody>
      </p:sp>
      <p:sp>
        <p:nvSpPr>
          <p:cNvPr id="5" name="CaixaDeTexto 5">
            <a:extLst>
              <a:ext uri="{FF2B5EF4-FFF2-40B4-BE49-F238E27FC236}">
                <a16:creationId xmlns:a16="http://schemas.microsoft.com/office/drawing/2014/main" id="{8FDF982D-8A8D-6EF4-8D1B-82B7E84A6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81770" y="6605403"/>
            <a:ext cx="251838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Azure </a:t>
            </a:r>
            <a:r>
              <a:rPr lang="pt-BR" altLang="pt-BR" sz="4000" dirty="0" err="1"/>
              <a:t>Events</a:t>
            </a:r>
            <a:r>
              <a:rPr lang="pt-BR" altLang="pt-BR" sz="4000" dirty="0"/>
              <a:t> Hub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8D8210B-A060-04B0-2BB5-F97C18CB04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27115" y="3852798"/>
            <a:ext cx="2798885" cy="279888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2F443BA3-6EE6-FFF0-2389-8839D017C6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15052" y="3847669"/>
            <a:ext cx="2827460" cy="2827460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E173D4D-5A17-F502-CE69-C0EFDA8608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357" y="3859736"/>
            <a:ext cx="2827460" cy="282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474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E6C48-3CB8-B56B-5A9C-E98006E37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DF87ECE6-F4F5-B2D9-47A6-3458822E1E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159FE8E4-3950-0445-0D3A-7921A3580003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C58CA2B2-66FD-EE90-889E-398126A69849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KEDA + Mensageria e Eventos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9347BC64-AD16-9AB8-2385-4326936128B9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18BEB1F1-FCA9-7A71-6C73-D959AB545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14" y="3615242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CaixaDeTexto 4">
            <a:extLst>
              <a:ext uri="{FF2B5EF4-FFF2-40B4-BE49-F238E27FC236}">
                <a16:creationId xmlns:a16="http://schemas.microsoft.com/office/drawing/2014/main" id="{D215EB9C-8CBD-6C7A-F82E-C99CB69C6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9787" y="6687196"/>
            <a:ext cx="2518385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AWS SQS </a:t>
            </a:r>
            <a:r>
              <a:rPr lang="pt-BR" altLang="pt-BR" sz="4000" dirty="0" err="1"/>
              <a:t>Queue</a:t>
            </a:r>
            <a:endParaRPr lang="pt-BR" altLang="pt-BR" sz="4000" dirty="0"/>
          </a:p>
        </p:txBody>
      </p:sp>
      <p:sp>
        <p:nvSpPr>
          <p:cNvPr id="13" name="CaixaDeTexto 5">
            <a:extLst>
              <a:ext uri="{FF2B5EF4-FFF2-40B4-BE49-F238E27FC236}">
                <a16:creationId xmlns:a16="http://schemas.microsoft.com/office/drawing/2014/main" id="{B7F270B4-444E-96B3-EFB0-BBB53B947F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24678" y="6635530"/>
            <a:ext cx="2518383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AWS </a:t>
            </a:r>
            <a:r>
              <a:rPr lang="pt-BR" altLang="pt-BR" sz="4000" dirty="0" err="1"/>
              <a:t>Kinesis</a:t>
            </a:r>
            <a:r>
              <a:rPr lang="pt-BR" altLang="pt-BR" sz="4000" dirty="0"/>
              <a:t> Stream</a:t>
            </a:r>
          </a:p>
        </p:txBody>
      </p:sp>
      <p:pic>
        <p:nvPicPr>
          <p:cNvPr id="5" name="Imagem 6" descr="Logotipo&#10;&#10;Descrição gerada automaticamente">
            <a:extLst>
              <a:ext uri="{FF2B5EF4-FFF2-40B4-BE49-F238E27FC236}">
                <a16:creationId xmlns:a16="http://schemas.microsoft.com/office/drawing/2014/main" id="{FA8449C1-5EE6-62BB-A830-1FD0D46CE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16402" r="20601" b="16402"/>
          <a:stretch>
            <a:fillRect/>
          </a:stretch>
        </p:blipFill>
        <p:spPr bwMode="auto">
          <a:xfrm>
            <a:off x="13294111" y="3779052"/>
            <a:ext cx="2179515" cy="25526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m 8" descr="Desenho de uma pessoa&#10;&#10;Descrição gerada automaticamente com confiança média">
            <a:extLst>
              <a:ext uri="{FF2B5EF4-FFF2-40B4-BE49-F238E27FC236}">
                <a16:creationId xmlns:a16="http://schemas.microsoft.com/office/drawing/2014/main" id="{ACC759B4-52A8-1387-14F3-B9A7FF7249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7423" y="3867332"/>
            <a:ext cx="1975759" cy="2383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63706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3CE3-01CB-07B9-EE54-3657A08D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CF2BCEE8-4425-800F-8C55-A13D90FC6A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9566DDD8-23FD-52AD-D18B-D06624187134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3027DE43-EDA7-4A9D-D660-50E920CEEA90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KEDA + Mensageria e Eventos</a:t>
            </a: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593AB8A2-2890-8998-2347-653AE11EB323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3E119655-684C-07F2-84E7-977519FC5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714" y="3615242"/>
            <a:ext cx="4826710" cy="4826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CaixaDeTexto 5">
            <a:extLst>
              <a:ext uri="{FF2B5EF4-FFF2-40B4-BE49-F238E27FC236}">
                <a16:creationId xmlns:a16="http://schemas.microsoft.com/office/drawing/2014/main" id="{01DD193D-266A-7AAC-F0C0-2872DA1794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9721" y="6635530"/>
            <a:ext cx="2518383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sz="200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Blip>
                <a:blip r:embed="rId5"/>
              </a:buBlip>
              <a:defRPr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Blip>
                <a:blip r:embed="rId5"/>
              </a:buBlip>
              <a:defRPr i="1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4000" dirty="0"/>
              <a:t>Google Pub/Sub</a:t>
            </a:r>
          </a:p>
        </p:txBody>
      </p:sp>
      <p:pic>
        <p:nvPicPr>
          <p:cNvPr id="4" name="Imagem 6" descr="Ícone&#10;&#10;Descrição gerada automaticamente">
            <a:extLst>
              <a:ext uri="{FF2B5EF4-FFF2-40B4-BE49-F238E27FC236}">
                <a16:creationId xmlns:a16="http://schemas.microsoft.com/office/drawing/2014/main" id="{EC88973A-28BF-275C-73C1-EDAA3CFA9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0525" y="2725891"/>
            <a:ext cx="3136777" cy="3423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9026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8193-AFB7-71E8-647A-89BC80C9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215E82E-25EA-EA13-AF55-4258732EED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5DE52410-8A46-9390-CB57-83CFF97EBA62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82613FD8-EA5D-FDAF-7DA1-9DD0793B5EF7}"/>
              </a:ext>
            </a:extLst>
          </p:cNvPr>
          <p:cNvSpPr/>
          <p:nvPr/>
        </p:nvSpPr>
        <p:spPr>
          <a:xfrm>
            <a:off x="762000" y="1671160"/>
            <a:ext cx="6154615" cy="3413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95833"/>
              </a:lnSpc>
              <a:spcAft>
                <a:spcPts val="8023"/>
              </a:spcAft>
            </a:pPr>
            <a:r>
              <a:rPr lang="pt-BR" sz="51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Utilizando KEDA no Microsoft Azure</a:t>
            </a:r>
          </a:p>
        </p:txBody>
      </p:sp>
      <p:sp>
        <p:nvSpPr>
          <p:cNvPr id="12" name="Cada palestra painel e oficina  pensado para gerar valor real para quem participa  presencialmente ou online Mas o verdadeiro legado est nas histrias que continuamos escrevendo atravs das instituies que apoiamos">
            <a:extLst>
              <a:ext uri="{FF2B5EF4-FFF2-40B4-BE49-F238E27FC236}">
                <a16:creationId xmlns:a16="http://schemas.microsoft.com/office/drawing/2014/main" id="{79F5D543-EC97-8BB0-B1C0-30A24C93D867}"/>
              </a:ext>
            </a:extLst>
          </p:cNvPr>
          <p:cNvSpPr/>
          <p:nvPr/>
        </p:nvSpPr>
        <p:spPr>
          <a:xfrm>
            <a:off x="7502769" y="1671160"/>
            <a:ext cx="9773849" cy="751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</a:t>
            </a:r>
            <a:r>
              <a:rPr lang="pt-BR" sz="4400" dirty="0" err="1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Kubernetes</a:t>
            </a: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 Service (AKS)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pt-BR" sz="44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Azure Container Apps</a:t>
            </a:r>
          </a:p>
          <a:p>
            <a:pPr marL="457200" indent="-457200">
              <a:lnSpc>
                <a:spcPct val="125000"/>
              </a:lnSpc>
              <a:spcAft>
                <a:spcPts val="1800"/>
              </a:spcAft>
              <a:buFont typeface="Arial" panose="020B0604020202020204" pitchFamily="34" charset="0"/>
              <a:buChar char="•"/>
            </a:pPr>
            <a:endParaRPr lang="pt-BR" sz="4400" dirty="0">
              <a:solidFill>
                <a:srgbClr val="364459">
                  <a:alpha val="60000"/>
                </a:srgbClr>
              </a:solidFill>
              <a:latin typeface="Maven Pro Regular" pitchFamily="34" charset="0"/>
              <a:ea typeface="Maven Pro Regular" pitchFamily="34" charset="-122"/>
              <a:cs typeface="Maven Pro Regular" pitchFamily="34" charset="-120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FB93FCBD-9AE8-6392-D410-D642F5041B17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4BE65CC6-7672-90B7-40C3-BCCEC6FBA5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773" y="4334554"/>
            <a:ext cx="3507563" cy="350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3">
            <a:extLst>
              <a:ext uri="{FF2B5EF4-FFF2-40B4-BE49-F238E27FC236}">
                <a16:creationId xmlns:a16="http://schemas.microsoft.com/office/drawing/2014/main" id="{AFFBAEE2-CE56-039C-1906-4850721C5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98276" y="6789972"/>
            <a:ext cx="2392128" cy="239212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D20B0A4-9CBE-6057-014B-434A0535A2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2104" y="5908067"/>
            <a:ext cx="2205817" cy="2205817"/>
          </a:xfrm>
          <a:prstGeom prst="rect">
            <a:avLst/>
          </a:prstGeom>
        </p:spPr>
      </p:pic>
      <p:pic>
        <p:nvPicPr>
          <p:cNvPr id="11" name="Imagem 3">
            <a:extLst>
              <a:ext uri="{FF2B5EF4-FFF2-40B4-BE49-F238E27FC236}">
                <a16:creationId xmlns:a16="http://schemas.microsoft.com/office/drawing/2014/main" id="{B6B1BBB5-1271-8212-1106-D3ADE5D770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2361454" y="5908068"/>
            <a:ext cx="2205816" cy="220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540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9BBCA-3FC9-D311-AFD6-A25B88728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5C33B7A9-B42B-594E-3CE7-CD9D37C7A8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2002" y="758946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B2AA7DB5-E308-6D8C-BE6F-587D81AFE1D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B2802693-2ED5-AE65-ED15-EDCCD48293D3}"/>
              </a:ext>
            </a:extLst>
          </p:cNvPr>
          <p:cNvSpPr/>
          <p:nvPr/>
        </p:nvSpPr>
        <p:spPr>
          <a:xfrm>
            <a:off x="762000" y="2441585"/>
            <a:ext cx="5472545" cy="2643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Exemplos</a:t>
            </a:r>
            <a:r>
              <a:rPr lang="en-US" sz="66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</a:t>
            </a:r>
            <a:r>
              <a:rPr lang="en-US" sz="66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práticos</a:t>
            </a:r>
            <a:endParaRPr lang="en-US" sz="66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6" name="Terminador 15">
            <a:extLst>
              <a:ext uri="{FF2B5EF4-FFF2-40B4-BE49-F238E27FC236}">
                <a16:creationId xmlns:a16="http://schemas.microsoft.com/office/drawing/2014/main" id="{17D12E36-4204-6C23-FA9B-1348CD96A211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8986EF79-F5A0-8E62-51B4-7995606D3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4089" y="7383705"/>
            <a:ext cx="2290763" cy="22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m 1">
            <a:extLst>
              <a:ext uri="{FF2B5EF4-FFF2-40B4-BE49-F238E27FC236}">
                <a16:creationId xmlns:a16="http://schemas.microsoft.com/office/drawing/2014/main" id="{D460046A-2B14-7FA1-1FDD-F12DF360D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8" r="31152" b="27022"/>
          <a:stretch>
            <a:fillRect/>
          </a:stretch>
        </p:blipFill>
        <p:spPr bwMode="auto">
          <a:xfrm>
            <a:off x="10232641" y="7372593"/>
            <a:ext cx="2438400" cy="2290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Gráfico 1">
            <a:extLst>
              <a:ext uri="{FF2B5EF4-FFF2-40B4-BE49-F238E27FC236}">
                <a16:creationId xmlns:a16="http://schemas.microsoft.com/office/drawing/2014/main" id="{D363F6C2-F5AA-8F72-A84C-A64A90A91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2809" y="7372593"/>
            <a:ext cx="2301875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ço Reservado para Texto 2">
            <a:extLst>
              <a:ext uri="{FF2B5EF4-FFF2-40B4-BE49-F238E27FC236}">
                <a16:creationId xmlns:a16="http://schemas.microsoft.com/office/drawing/2014/main" id="{B6FA8006-7618-FBBE-C9C3-4A4DBA9F08FA}"/>
              </a:ext>
            </a:extLst>
          </p:cNvPr>
          <p:cNvSpPr>
            <a:spLocks noGrp="1"/>
          </p:cNvSpPr>
          <p:nvPr/>
        </p:nvSpPr>
        <p:spPr>
          <a:xfrm>
            <a:off x="762002" y="5921686"/>
            <a:ext cx="16792573" cy="697114"/>
          </a:xfrm>
          <a:prstGeom prst="rect">
            <a:avLst/>
          </a:prstGeom>
          <a:solidFill>
            <a:schemeClr val="tx1">
              <a:lumMod val="50000"/>
            </a:schemeClr>
          </a:solidFill>
        </p:spPr>
        <p:txBody>
          <a:bodyPr vert="horz" wrap="square" lIns="146304" tIns="91440" rIns="146304" bIns="91440" rtlCol="0">
            <a:spAutoFit/>
          </a:bodyPr>
          <a:lstStyle>
            <a:lvl1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4000" kern="1200" spc="0" baseline="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  <a:latin typeface="+mj-lt"/>
                <a:ea typeface="+mn-ea"/>
                <a:cs typeface="+mn-cs"/>
              </a:defRPr>
            </a:lvl1pPr>
            <a:lvl2pPr marL="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Tx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2pPr>
            <a:lvl3pPr marL="2286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20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3pPr>
            <a:lvl4pPr marL="4572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4pPr>
            <a:lvl5pPr marL="685800" marR="0" indent="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  <a:defRPr sz="1800" kern="1200" spc="0" baseline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700" b="1" dirty="0">
                <a:solidFill>
                  <a:schemeClr val="bg1"/>
                </a:solidFill>
              </a:rPr>
              <a:t>github.com/renatogroffe/microservices-mensageria-escalabilidade-mvpconf-2026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6627675-7532-3B9F-762C-C10C05F5F39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7115" y="1137999"/>
            <a:ext cx="4365314" cy="4365314"/>
          </a:xfrm>
          <a:prstGeom prst="rect">
            <a:avLst/>
          </a:prstGeom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D0BF23-0EC7-AC98-E7FF-853A939B6C41}"/>
              </a:ext>
            </a:extLst>
          </p:cNvPr>
          <p:cNvSpPr txBox="1">
            <a:spLocks/>
          </p:cNvSpPr>
          <p:nvPr/>
        </p:nvSpPr>
        <p:spPr>
          <a:xfrm>
            <a:off x="12022897" y="2730183"/>
            <a:ext cx="4659041" cy="145382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1667"/>
              </a:lnSpc>
              <a:spcAft>
                <a:spcPts val="11004"/>
              </a:spcAft>
              <a:buNone/>
            </a:pPr>
            <a:r>
              <a:rPr lang="pt-BR" sz="4000" dirty="0">
                <a:latin typeface="Maven Pro Black" pitchFamily="2" charset="77"/>
                <a:cs typeface="Maven Pro Regular" pitchFamily="34" charset="-120"/>
              </a:rPr>
              <a:t>Deixem um star </a:t>
            </a:r>
            <a:r>
              <a:rPr lang="pt-BR" sz="4000" dirty="0">
                <a:latin typeface="Maven Pro Regular" pitchFamily="34" charset="0"/>
                <a:cs typeface="Maven Pro Regular" pitchFamily="34" charset="-120"/>
              </a:rPr>
              <a:t>⭐</a:t>
            </a:r>
            <a:r>
              <a:rPr lang="pt-BR" sz="4000" dirty="0">
                <a:latin typeface="Maven Pro Black" pitchFamily="2" charset="77"/>
                <a:cs typeface="Maven Pro Regular" pitchFamily="34" charset="-120"/>
              </a:rPr>
              <a:t> </a:t>
            </a:r>
            <a:r>
              <a:rPr lang="en-US" sz="4000" dirty="0" err="1">
                <a:latin typeface="Maven Pro Black" pitchFamily="2" charset="77"/>
                <a:cs typeface="Maven Pro Regular" pitchFamily="34" charset="-120"/>
              </a:rPr>
              <a:t>apoiando</a:t>
            </a:r>
            <a:endParaRPr lang="pt-BR" sz="4000" dirty="0">
              <a:latin typeface="Maven Pro Black" pitchFamily="2" charset="77"/>
              <a:cs typeface="Maven Pro Regula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89869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2699D-D92C-2601-F68E-56B96D25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8AB21D-1FBE-BAC1-B396-08D6E72010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577" y="732972"/>
            <a:ext cx="2432771" cy="460254"/>
          </a:xfrm>
          <a:prstGeom prst="rect">
            <a:avLst/>
          </a:prstGeom>
        </p:spPr>
      </p:pic>
      <p:sp>
        <p:nvSpPr>
          <p:cNvPr id="8" name="wwwmvpconfcombr">
            <a:extLst>
              <a:ext uri="{FF2B5EF4-FFF2-40B4-BE49-F238E27FC236}">
                <a16:creationId xmlns:a16="http://schemas.microsoft.com/office/drawing/2014/main" id="{A3301F8E-F67C-E6FB-B0D0-01370B8BFB08}"/>
              </a:ext>
            </a:extLst>
          </p:cNvPr>
          <p:cNvSpPr/>
          <p:nvPr/>
        </p:nvSpPr>
        <p:spPr>
          <a:xfrm>
            <a:off x="15019867" y="9182100"/>
            <a:ext cx="253470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800" dirty="0">
                <a:solidFill>
                  <a:srgbClr val="364459">
                    <a:alpha val="60000"/>
                  </a:srgbClr>
                </a:solidFill>
                <a:latin typeface="Maven Pro Regular" pitchFamily="34" charset="0"/>
                <a:ea typeface="Maven Pro Regular" pitchFamily="34" charset="-122"/>
                <a:cs typeface="Maven Pro Regular" pitchFamily="34" charset="-120"/>
              </a:rPr>
              <a:t>www.mvpconf.com.br</a:t>
            </a:r>
            <a:endParaRPr lang="en-US" sz="1800" dirty="0"/>
          </a:p>
        </p:txBody>
      </p:sp>
      <p:sp>
        <p:nvSpPr>
          <p:cNvPr id="10" name="Pessoas em Primeiro Lugar">
            <a:extLst>
              <a:ext uri="{FF2B5EF4-FFF2-40B4-BE49-F238E27FC236}">
                <a16:creationId xmlns:a16="http://schemas.microsoft.com/office/drawing/2014/main" id="{61778D11-EE6B-EE86-2280-4C9BC2B61979}"/>
              </a:ext>
            </a:extLst>
          </p:cNvPr>
          <p:cNvSpPr/>
          <p:nvPr/>
        </p:nvSpPr>
        <p:spPr>
          <a:xfrm>
            <a:off x="761999" y="1896376"/>
            <a:ext cx="16938879" cy="145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833"/>
              </a:lnSpc>
              <a:spcAft>
                <a:spcPts val="8023"/>
              </a:spcAft>
              <a:buNone/>
            </a:pPr>
            <a:r>
              <a:rPr lang="en-US" sz="80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Siga MVP Conf </a:t>
            </a:r>
            <a:r>
              <a:rPr lang="en-US" sz="80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nas</a:t>
            </a:r>
            <a:r>
              <a:rPr lang="en-US" sz="8000" b="1" dirty="0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 redes </a:t>
            </a:r>
            <a:r>
              <a:rPr lang="en-US" sz="8000" b="1" dirty="0" err="1">
                <a:solidFill>
                  <a:srgbClr val="008CFD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sociais</a:t>
            </a:r>
            <a:endParaRPr lang="en-US" sz="8000" b="1" dirty="0">
              <a:solidFill>
                <a:srgbClr val="008CFD"/>
              </a:solidFill>
              <a:latin typeface="Maven Pro Black" pitchFamily="2" charset="77"/>
            </a:endParaRPr>
          </a:p>
        </p:txBody>
      </p:sp>
      <p:sp>
        <p:nvSpPr>
          <p:cNvPr id="11" name="Tecnologia  o meio Pessoas so o fim">
            <a:extLst>
              <a:ext uri="{FF2B5EF4-FFF2-40B4-BE49-F238E27FC236}">
                <a16:creationId xmlns:a16="http://schemas.microsoft.com/office/drawing/2014/main" id="{E769BD2A-3BA4-4405-CF73-DD6CE7E8ABAA}"/>
              </a:ext>
            </a:extLst>
          </p:cNvPr>
          <p:cNvSpPr/>
          <p:nvPr/>
        </p:nvSpPr>
        <p:spPr>
          <a:xfrm>
            <a:off x="6010275" y="8714664"/>
            <a:ext cx="62674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spcAft>
                <a:spcPts val="2355"/>
              </a:spcAft>
              <a:buNone/>
            </a:pPr>
            <a:endParaRPr lang="en-US" sz="2552" dirty="0">
              <a:latin typeface="Maven Pro Medium" pitchFamily="2" charset="77"/>
            </a:endParaRPr>
          </a:p>
        </p:txBody>
      </p:sp>
      <p:sp>
        <p:nvSpPr>
          <p:cNvPr id="12" name="Terminador 11">
            <a:extLst>
              <a:ext uri="{FF2B5EF4-FFF2-40B4-BE49-F238E27FC236}">
                <a16:creationId xmlns:a16="http://schemas.microsoft.com/office/drawing/2014/main" id="{BB4B9BA1-59C2-D47D-ED74-178044078B74}"/>
              </a:ext>
            </a:extLst>
          </p:cNvPr>
          <p:cNvSpPr/>
          <p:nvPr/>
        </p:nvSpPr>
        <p:spPr>
          <a:xfrm>
            <a:off x="15404772" y="603816"/>
            <a:ext cx="2296107" cy="718566"/>
          </a:xfrm>
          <a:prstGeom prst="flowChartTerminator">
            <a:avLst/>
          </a:prstGeom>
          <a:solidFill>
            <a:srgbClr val="008CFD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chemeClr val="bg1"/>
                </a:solidFill>
                <a:latin typeface="Maven Pro ExtraBold" pitchFamily="2" charset="77"/>
              </a:rPr>
              <a:t>2026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260277-BAD2-7E33-7A6B-CABE3D866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2642" y="3926794"/>
            <a:ext cx="3905250" cy="390525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92571CA-C9DA-28C5-5229-69576E78F0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0188" y="3734275"/>
            <a:ext cx="4795073" cy="4598911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FC01F3B-C189-F2F8-06A7-158210EB06A9}"/>
              </a:ext>
            </a:extLst>
          </p:cNvPr>
          <p:cNvSpPr txBox="1"/>
          <p:nvPr/>
        </p:nvSpPr>
        <p:spPr>
          <a:xfrm>
            <a:off x="3398520" y="8067458"/>
            <a:ext cx="26117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/>
              <a:t>LINKEDIN</a:t>
            </a:r>
          </a:p>
        </p:txBody>
      </p:sp>
    </p:spTree>
    <p:extLst>
      <p:ext uri="{BB962C8B-B14F-4D97-AF65-F5344CB8AC3E}">
        <p14:creationId xmlns:p14="http://schemas.microsoft.com/office/powerpoint/2010/main" val="2639323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C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A7154-56D1-3ECE-0E7D-C8868EE68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VP Conf">
            <a:extLst>
              <a:ext uri="{FF2B5EF4-FFF2-40B4-BE49-F238E27FC236}">
                <a16:creationId xmlns:a16="http://schemas.microsoft.com/office/drawing/2014/main" id="{BCE8F8E1-9D0C-89A3-84E8-E5260F542DB7}"/>
              </a:ext>
            </a:extLst>
          </p:cNvPr>
          <p:cNvSpPr/>
          <p:nvPr/>
        </p:nvSpPr>
        <p:spPr>
          <a:xfrm>
            <a:off x="1176338" y="2011680"/>
            <a:ext cx="16511587" cy="38233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833"/>
              </a:lnSpc>
              <a:spcAft>
                <a:spcPts val="30672"/>
              </a:spcAft>
              <a:buNone/>
            </a:pPr>
            <a:r>
              <a:rPr lang="en-US" sz="20000" b="1" dirty="0">
                <a:solidFill>
                  <a:srgbClr val="FFFFFF"/>
                </a:solidFill>
                <a:latin typeface="Maven Pro Black" pitchFamily="2" charset="77"/>
                <a:ea typeface="Maven Pro Regular" pitchFamily="34" charset="-122"/>
                <a:cs typeface="Maven Pro Regular" pitchFamily="34" charset="-120"/>
              </a:rPr>
              <a:t>Obrigada(o)!</a:t>
            </a:r>
            <a:endParaRPr lang="en-US" sz="20000" b="1" dirty="0">
              <a:latin typeface="Maven Pro Black" pitchFamily="2" charset="77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2AC16B9-4E57-5D2A-8D14-248C1AAABA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602" y="587496"/>
            <a:ext cx="2432771" cy="460254"/>
          </a:xfrm>
          <a:prstGeom prst="rect">
            <a:avLst/>
          </a:prstGeom>
        </p:spPr>
      </p:pic>
      <p:sp>
        <p:nvSpPr>
          <p:cNvPr id="10" name="Terminador 9">
            <a:extLst>
              <a:ext uri="{FF2B5EF4-FFF2-40B4-BE49-F238E27FC236}">
                <a16:creationId xmlns:a16="http://schemas.microsoft.com/office/drawing/2014/main" id="{59FDABD2-19C3-D07E-FF38-E32F2DFA58FC}"/>
              </a:ext>
            </a:extLst>
          </p:cNvPr>
          <p:cNvSpPr/>
          <p:nvPr/>
        </p:nvSpPr>
        <p:spPr>
          <a:xfrm>
            <a:off x="15391818" y="610740"/>
            <a:ext cx="2296107" cy="718566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b="1" dirty="0">
                <a:solidFill>
                  <a:srgbClr val="008CFD"/>
                </a:solidFill>
                <a:latin typeface="Maven Pro ExtraBold" pitchFamily="2" charset="77"/>
              </a:rPr>
              <a:t>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5897880"/>
            <a:ext cx="29260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9280" y="8791843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200" dirty="0">
                <a:solidFill>
                  <a:srgbClr val="001635"/>
                </a:solidFill>
                <a:latin typeface="Maven Pro Black"/>
              </a:rPr>
              <a:t>Renato Groffe</a:t>
            </a:r>
            <a:endParaRPr sz="2200" dirty="0">
              <a:solidFill>
                <a:srgbClr val="001635"/>
              </a:solidFill>
              <a:latin typeface="Maven Pro Black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92640" y="5897880"/>
            <a:ext cx="29260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0" y="8791843"/>
            <a:ext cx="292608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pt-BR" sz="2200" dirty="0">
                <a:solidFill>
                  <a:srgbClr val="001635"/>
                </a:solidFill>
                <a:latin typeface="Maven Pro Black"/>
              </a:rPr>
              <a:t>Diego Matos</a:t>
            </a:r>
            <a:endParaRPr sz="2200" dirty="0">
              <a:solidFill>
                <a:srgbClr val="001635"/>
              </a:solidFill>
              <a:latin typeface="Maven Pro Black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DF9BDB9-2A92-B7BE-638E-D5A4976A6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4211" y="6213524"/>
            <a:ext cx="2472250" cy="2472250"/>
          </a:xfrm>
          <a:prstGeom prst="rect">
            <a:avLst/>
          </a:prstGeom>
        </p:spPr>
      </p:pic>
      <p:pic>
        <p:nvPicPr>
          <p:cNvPr id="9" name="Imagem 8" descr="Código QR&#10;&#10;O conteúdo gerado por IA pode estar incorreto.">
            <a:extLst>
              <a:ext uri="{FF2B5EF4-FFF2-40B4-BE49-F238E27FC236}">
                <a16:creationId xmlns:a16="http://schemas.microsoft.com/office/drawing/2014/main" id="{DF441D28-1E31-82B0-1560-39373126F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8760" y="6349359"/>
            <a:ext cx="2250831" cy="225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597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948</Words>
  <Application>Microsoft Office PowerPoint</Application>
  <PresentationFormat>Personalizar</PresentationFormat>
  <Paragraphs>187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Maven Pro ExtraBold</vt:lpstr>
      <vt:lpstr>Maven Pro Regular</vt:lpstr>
      <vt:lpstr>Aptos</vt:lpstr>
      <vt:lpstr>Maven Pro Medium</vt:lpstr>
      <vt:lpstr>Calibri</vt:lpstr>
      <vt:lpstr>Maven Pro SemiBold</vt:lpstr>
      <vt:lpstr>Maven Pro Black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Renato Groffe</cp:lastModifiedBy>
  <cp:revision>33</cp:revision>
  <dcterms:created xsi:type="dcterms:W3CDTF">2025-05-13T22:34:59Z</dcterms:created>
  <dcterms:modified xsi:type="dcterms:W3CDTF">2026-09-26T05:01:30Z</dcterms:modified>
  <cp:category/>
</cp:coreProperties>
</file>